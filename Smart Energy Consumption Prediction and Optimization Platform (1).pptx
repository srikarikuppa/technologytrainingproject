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Lobster"/>
      <p:regular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Lobster-regular.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6728b06a1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c6728b06a1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6728b06a1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c6728b06a1_2_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6728b06a1_2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c6728b06a1_2_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6728b06a1_2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3c6728b06a1_2_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6728b06a1_2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c6728b06a1_2_9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6728b06a1_2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c6728b06a1_2_1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6728b06a1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3c6728b06a1_2_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6728b06a1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c6728b06a1_2_1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6728b06a1_2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c6728b06a1_2_1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6728b06a1_2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c6728b06a1_2_1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c6728b06a1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c6728b06a1_2_1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6728b06a1_2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c6728b06a1_2_1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c6728b06a1_2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c6728b06a1_2_1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c6728b06a1_2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c6728b06a1_2_1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dc83c77e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bdc83c77ea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bdc83c77e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bdc83c77ea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bdc83c77ea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bdc83c77ea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bdc83c77e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bdc83c77ea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bdc83c77e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bdc83c77ea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bdc83c77ea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bdc83c77ea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bdc83c77e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3bdc83c77ea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6728b06a1_2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c6728b06a1_2_1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c6728b06a1_2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c6728b06a1_2_1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6728b06a1_2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c6728b06a1_2_1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c6728b06a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c6728b06a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4.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4.jp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4.jp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4.jp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4.jp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4.jp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4.jp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4.jpg"/><Relationship Id="rId4" Type="http://schemas.openxmlformats.org/officeDocument/2006/relationships/image" Target="../media/image26.png"/><Relationship Id="rId5"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4.jp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 name="Shape 128"/>
        <p:cNvGrpSpPr/>
        <p:nvPr/>
      </p:nvGrpSpPr>
      <p:grpSpPr>
        <a:xfrm>
          <a:off x="0" y="0"/>
          <a:ext cx="0" cy="0"/>
          <a:chOff x="0" y="0"/>
          <a:chExt cx="0" cy="0"/>
        </a:xfrm>
      </p:grpSpPr>
      <p:sp>
        <p:nvSpPr>
          <p:cNvPr id="129" name="Google Shape;129;p25"/>
          <p:cNvSpPr txBox="1"/>
          <p:nvPr>
            <p:ph type="ctrTitle"/>
          </p:nvPr>
        </p:nvSpPr>
        <p:spPr>
          <a:xfrm>
            <a:off x="1188000" y="1205533"/>
            <a:ext cx="6858000" cy="1790700"/>
          </a:xfrm>
          <a:prstGeom prst="rect">
            <a:avLst/>
          </a:prstGeom>
          <a:noFill/>
          <a:ln>
            <a:noFill/>
          </a:ln>
        </p:spPr>
        <p:txBody>
          <a:bodyPr anchorCtr="0" anchor="b" bIns="34275" lIns="68575" spcFirstLastPara="1" rIns="68575" wrap="square" tIns="34275">
            <a:normAutofit fontScale="90000"/>
          </a:bodyPr>
          <a:lstStyle/>
          <a:p>
            <a:pPr indent="0" lvl="0" marL="0" rtl="0" algn="ctr">
              <a:lnSpc>
                <a:spcPct val="90000"/>
              </a:lnSpc>
              <a:spcBef>
                <a:spcPts val="0"/>
              </a:spcBef>
              <a:spcAft>
                <a:spcPts val="0"/>
              </a:spcAft>
              <a:buClr>
                <a:schemeClr val="dk1"/>
              </a:buClr>
              <a:buSzPct val="100000"/>
              <a:buFont typeface="Calibri"/>
              <a:buNone/>
            </a:pPr>
            <a:r>
              <a:rPr lang="en">
                <a:solidFill>
                  <a:srgbClr val="FFFFFF"/>
                </a:solidFill>
                <a:latin typeface="Impact"/>
                <a:ea typeface="Impact"/>
                <a:cs typeface="Impact"/>
                <a:sym typeface="Impact"/>
              </a:rPr>
              <a:t>Smart Energy Consumption Prediction and Optimization Platform</a:t>
            </a:r>
            <a:endParaRPr>
              <a:solidFill>
                <a:srgbClr val="FFFFFF"/>
              </a:solidFill>
              <a:latin typeface="Impact"/>
              <a:ea typeface="Impact"/>
              <a:cs typeface="Impact"/>
              <a:sym typeface="Impact"/>
            </a:endParaRPr>
          </a:p>
        </p:txBody>
      </p:sp>
      <p:sp>
        <p:nvSpPr>
          <p:cNvPr id="130" name="Google Shape;130;p25"/>
          <p:cNvSpPr txBox="1"/>
          <p:nvPr/>
        </p:nvSpPr>
        <p:spPr>
          <a:xfrm>
            <a:off x="5260975" y="3342600"/>
            <a:ext cx="4143600" cy="1800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n" sz="2100">
                <a:solidFill>
                  <a:srgbClr val="FFFFFF"/>
                </a:solidFill>
                <a:latin typeface="Impact"/>
                <a:ea typeface="Impact"/>
                <a:cs typeface="Impact"/>
                <a:sym typeface="Impact"/>
              </a:rPr>
              <a:t>Done by:</a:t>
            </a:r>
            <a:endParaRPr sz="2100">
              <a:solidFill>
                <a:srgbClr val="FFFFFF"/>
              </a:solidFill>
              <a:latin typeface="Impact"/>
              <a:ea typeface="Impact"/>
              <a:cs typeface="Impact"/>
              <a:sym typeface="Impact"/>
            </a:endParaRPr>
          </a:p>
          <a:p>
            <a:pPr indent="0" lvl="0" marL="0" rtl="0" algn="l">
              <a:lnSpc>
                <a:spcPct val="100000"/>
              </a:lnSpc>
              <a:spcBef>
                <a:spcPts val="0"/>
              </a:spcBef>
              <a:spcAft>
                <a:spcPts val="0"/>
              </a:spcAft>
              <a:buClr>
                <a:schemeClr val="dk1"/>
              </a:buClr>
              <a:buSzPts val="1100"/>
              <a:buFont typeface="Arial"/>
              <a:buNone/>
            </a:pPr>
            <a:r>
              <a:rPr lang="en" sz="2100">
                <a:solidFill>
                  <a:srgbClr val="FFFFFF"/>
                </a:solidFill>
                <a:latin typeface="Impact"/>
                <a:ea typeface="Impact"/>
                <a:cs typeface="Impact"/>
                <a:sym typeface="Impact"/>
              </a:rPr>
              <a:t>S.Vyshnavi ( IT  24245A1212)</a:t>
            </a:r>
            <a:endParaRPr sz="2100">
              <a:solidFill>
                <a:srgbClr val="FFFFFF"/>
              </a:solidFill>
              <a:latin typeface="Impact"/>
              <a:ea typeface="Impact"/>
              <a:cs typeface="Impact"/>
              <a:sym typeface="Impact"/>
            </a:endParaRPr>
          </a:p>
          <a:p>
            <a:pPr indent="0" lvl="0" marL="0" rtl="0" algn="l">
              <a:lnSpc>
                <a:spcPct val="100000"/>
              </a:lnSpc>
              <a:spcBef>
                <a:spcPts val="0"/>
              </a:spcBef>
              <a:spcAft>
                <a:spcPts val="0"/>
              </a:spcAft>
              <a:buClr>
                <a:schemeClr val="dk1"/>
              </a:buClr>
              <a:buSzPts val="1100"/>
              <a:buFont typeface="Arial"/>
              <a:buNone/>
            </a:pPr>
            <a:r>
              <a:rPr lang="en" sz="2100">
                <a:solidFill>
                  <a:srgbClr val="FFFFFF"/>
                </a:solidFill>
                <a:latin typeface="Impact"/>
                <a:ea typeface="Impact"/>
                <a:cs typeface="Impact"/>
                <a:sym typeface="Impact"/>
              </a:rPr>
              <a:t>K.Srikari ( IT  23241A1296)</a:t>
            </a:r>
            <a:endParaRPr sz="2100">
              <a:solidFill>
                <a:srgbClr val="FFFFFF"/>
              </a:solidFill>
              <a:latin typeface="Impact"/>
              <a:ea typeface="Impact"/>
              <a:cs typeface="Impact"/>
              <a:sym typeface="Impact"/>
            </a:endParaRPr>
          </a:p>
          <a:p>
            <a:pPr indent="0" lvl="0" marL="0" rtl="0" algn="l">
              <a:lnSpc>
                <a:spcPct val="100000"/>
              </a:lnSpc>
              <a:spcBef>
                <a:spcPts val="0"/>
              </a:spcBef>
              <a:spcAft>
                <a:spcPts val="0"/>
              </a:spcAft>
              <a:buClr>
                <a:schemeClr val="dk1"/>
              </a:buClr>
              <a:buSzPts val="1100"/>
              <a:buFont typeface="Arial"/>
              <a:buNone/>
            </a:pPr>
            <a:r>
              <a:rPr lang="en" sz="2100">
                <a:solidFill>
                  <a:srgbClr val="FFFFFF"/>
                </a:solidFill>
                <a:latin typeface="Impact"/>
                <a:ea typeface="Impact"/>
                <a:cs typeface="Impact"/>
                <a:sym typeface="Impact"/>
              </a:rPr>
              <a:t>B.Nandini ( IT  24245A1208)</a:t>
            </a:r>
            <a:endParaRPr sz="2100">
              <a:solidFill>
                <a:srgbClr val="FFFFFF"/>
              </a:solidFill>
              <a:latin typeface="Impact"/>
              <a:ea typeface="Impact"/>
              <a:cs typeface="Impact"/>
              <a:sym typeface="Impact"/>
            </a:endParaRPr>
          </a:p>
          <a:p>
            <a:pPr indent="0" lvl="0" marL="0" rtl="0" algn="l">
              <a:lnSpc>
                <a:spcPct val="100000"/>
              </a:lnSpc>
              <a:spcBef>
                <a:spcPts val="0"/>
              </a:spcBef>
              <a:spcAft>
                <a:spcPts val="0"/>
              </a:spcAft>
              <a:buNone/>
            </a:pPr>
            <a:r>
              <a:t/>
            </a:r>
            <a:endParaRPr sz="2100">
              <a:solidFill>
                <a:srgbClr val="FFFFFF"/>
              </a:solidFill>
              <a:latin typeface="Lobster"/>
              <a:ea typeface="Lobster"/>
              <a:cs typeface="Lobster"/>
              <a:sym typeface="Lobs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 name="Shape 134"/>
        <p:cNvGrpSpPr/>
        <p:nvPr/>
      </p:nvGrpSpPr>
      <p:grpSpPr>
        <a:xfrm>
          <a:off x="0" y="0"/>
          <a:ext cx="0" cy="0"/>
          <a:chOff x="0" y="0"/>
          <a:chExt cx="0" cy="0"/>
        </a:xfrm>
      </p:grpSpPr>
      <p:sp>
        <p:nvSpPr>
          <p:cNvPr id="135" name="Google Shape;135;p26"/>
          <p:cNvSpPr txBox="1"/>
          <p:nvPr>
            <p:ph type="title"/>
          </p:nvPr>
        </p:nvSpPr>
        <p:spPr>
          <a:xfrm>
            <a:off x="680270" y="266470"/>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Abstract</a:t>
            </a:r>
            <a:endParaRPr/>
          </a:p>
        </p:txBody>
      </p:sp>
      <p:sp>
        <p:nvSpPr>
          <p:cNvPr id="136" name="Google Shape;136;p26"/>
          <p:cNvSpPr txBox="1"/>
          <p:nvPr>
            <p:ph idx="1" type="body"/>
          </p:nvPr>
        </p:nvSpPr>
        <p:spPr>
          <a:xfrm>
            <a:off x="628650" y="1260642"/>
            <a:ext cx="7886700" cy="3263504"/>
          </a:xfrm>
          <a:prstGeom prst="rect">
            <a:avLst/>
          </a:prstGeom>
          <a:noFill/>
          <a:ln>
            <a:noFill/>
          </a:ln>
        </p:spPr>
        <p:txBody>
          <a:bodyPr anchorCtr="0" anchor="t" bIns="34275" lIns="68575" spcFirstLastPara="1" rIns="68575" wrap="square" tIns="34275">
            <a:normAutofit/>
          </a:bodyPr>
          <a:lstStyle/>
          <a:p>
            <a:pPr indent="0" lvl="0" marL="0" rtl="0" algn="just">
              <a:lnSpc>
                <a:spcPct val="90000"/>
              </a:lnSpc>
              <a:spcBef>
                <a:spcPts val="0"/>
              </a:spcBef>
              <a:spcAft>
                <a:spcPts val="0"/>
              </a:spcAft>
              <a:buClr>
                <a:schemeClr val="dk1"/>
              </a:buClr>
              <a:buSzPts val="1800"/>
              <a:buFont typeface="Arial"/>
              <a:buNone/>
            </a:pPr>
            <a:r>
              <a:rPr lang="en" sz="1800">
                <a:latin typeface="Times New Roman"/>
                <a:ea typeface="Times New Roman"/>
                <a:cs typeface="Times New Roman"/>
                <a:sym typeface="Times New Roman"/>
              </a:rPr>
              <a:t>This project presents a smart energy consumption prediction and optimization system for residential households using historical electricity consumption data. The system analyzes past usage patterns along with factors such as time, day, and seasonal variations to accurately predict future energy demand using machine learning and deep learning techniques. Based on the predictions, an optimization strategy is applied to reduce energy consumption and shift flexible loads away from peak hours while maintaining user comfort. The system provides predicted energy values, peak and off-peak analysis, optimized usage plans, and cost-saving insights. The results demonstrate improved energy efficiency, reduced peak demand, and effective support for sustainable household energy management.</a:t>
            </a:r>
            <a:endParaRPr sz="18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0" name="Shape 140"/>
        <p:cNvGrpSpPr/>
        <p:nvPr/>
      </p:nvGrpSpPr>
      <p:grpSpPr>
        <a:xfrm>
          <a:off x="0" y="0"/>
          <a:ext cx="0" cy="0"/>
          <a:chOff x="0" y="0"/>
          <a:chExt cx="0" cy="0"/>
        </a:xfrm>
      </p:grpSpPr>
      <p:sp>
        <p:nvSpPr>
          <p:cNvPr id="141" name="Google Shape;141;p2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Introduction</a:t>
            </a:r>
            <a:endParaRPr/>
          </a:p>
        </p:txBody>
      </p:sp>
      <p:sp>
        <p:nvSpPr>
          <p:cNvPr id="142" name="Google Shape;142;p27"/>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0" lvl="0" marL="0" rtl="0" algn="just">
              <a:lnSpc>
                <a:spcPct val="90000"/>
              </a:lnSpc>
              <a:spcBef>
                <a:spcPts val="0"/>
              </a:spcBef>
              <a:spcAft>
                <a:spcPts val="0"/>
              </a:spcAft>
              <a:buClr>
                <a:schemeClr val="dk1"/>
              </a:buClr>
              <a:buSzPts val="2100"/>
              <a:buNone/>
            </a:pPr>
            <a:r>
              <a:rPr lang="en">
                <a:latin typeface="Times New Roman"/>
                <a:ea typeface="Times New Roman"/>
                <a:cs typeface="Times New Roman"/>
                <a:sym typeface="Times New Roman"/>
              </a:rPr>
              <a:t>Energy consumption is increasing rapidly due to population growth, urbanization, and increased dependency on electrical appliances. Traditional energy usage systems lack intelligence and automation, leading to energy wastage and high electricity costs. Smart energy management systems use prediction and optimization techniques to analyze consumption patterns and provide efficient usage strategies. This project focuses on predicting future energy consumption and optimizing usage for better efficiency and sustainability.</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6" name="Shape 146"/>
        <p:cNvGrpSpPr/>
        <p:nvPr/>
      </p:nvGrpSpPr>
      <p:grpSpPr>
        <a:xfrm>
          <a:off x="0" y="0"/>
          <a:ext cx="0" cy="0"/>
          <a:chOff x="0" y="0"/>
          <a:chExt cx="0" cy="0"/>
        </a:xfrm>
      </p:grpSpPr>
      <p:sp>
        <p:nvSpPr>
          <p:cNvPr id="147" name="Google Shape;147;p2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Problem Statement</a:t>
            </a:r>
            <a:endParaRPr/>
          </a:p>
        </p:txBody>
      </p:sp>
      <p:sp>
        <p:nvSpPr>
          <p:cNvPr id="148" name="Google Shape;148;p28"/>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0" lvl="0" marL="0" rtl="0" algn="just">
              <a:lnSpc>
                <a:spcPct val="90000"/>
              </a:lnSpc>
              <a:spcBef>
                <a:spcPts val="0"/>
              </a:spcBef>
              <a:spcAft>
                <a:spcPts val="0"/>
              </a:spcAft>
              <a:buClr>
                <a:schemeClr val="dk1"/>
              </a:buClr>
              <a:buSzPts val="2100"/>
              <a:buNone/>
            </a:pPr>
            <a:r>
              <a:rPr lang="en">
                <a:latin typeface="Times New Roman"/>
                <a:ea typeface="Times New Roman"/>
                <a:cs typeface="Times New Roman"/>
                <a:sym typeface="Times New Roman"/>
              </a:rPr>
              <a:t>The continuous increase in electricity consumption has resulted in inefficient appliance usage, high peak loads, and increased electricity bills. Existing systems do not provide intelligent prediction mechanisms to forecast energy demand or optimize usage patterns. The absence of smart prediction and optimization systems leads to poor energy planning and inefficient consumption management.</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sp>
        <p:nvSpPr>
          <p:cNvPr id="153" name="Google Shape;153;p2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Objectives</a:t>
            </a:r>
            <a:endParaRPr/>
          </a:p>
        </p:txBody>
      </p:sp>
      <p:sp>
        <p:nvSpPr>
          <p:cNvPr id="154" name="Google Shape;154;p29"/>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0" lvl="0" marL="0" rtl="0" algn="just">
              <a:lnSpc>
                <a:spcPct val="90000"/>
              </a:lnSpc>
              <a:spcBef>
                <a:spcPts val="0"/>
              </a:spcBef>
              <a:spcAft>
                <a:spcPts val="0"/>
              </a:spcAft>
              <a:buClr>
                <a:schemeClr val="dk1"/>
              </a:buClr>
              <a:buSzPts val="2100"/>
              <a:buNone/>
            </a:pPr>
            <a:r>
              <a:rPr lang="en">
                <a:latin typeface="Times New Roman"/>
                <a:ea typeface="Times New Roman"/>
                <a:cs typeface="Times New Roman"/>
                <a:sym typeface="Times New Roman"/>
              </a:rPr>
              <a:t>The main objective of this project is to analyze historical energy consumption data and predict future energy usage using machine learning and deep learning techniques. It also aims to identify peak and off-peak periods, optimize energy usage patterns, reduce electricity costs, and improve overall energy efficiency.</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id="159" name="Google Shape;159;p3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Literature Survey</a:t>
            </a:r>
            <a:endParaRPr/>
          </a:p>
        </p:txBody>
      </p:sp>
      <p:sp>
        <p:nvSpPr>
          <p:cNvPr id="160" name="Google Shape;160;p30"/>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0" lvl="0" marL="0" rtl="0" algn="just">
              <a:lnSpc>
                <a:spcPct val="90000"/>
              </a:lnSpc>
              <a:spcBef>
                <a:spcPts val="0"/>
              </a:spcBef>
              <a:spcAft>
                <a:spcPts val="0"/>
              </a:spcAft>
              <a:buClr>
                <a:schemeClr val="dk1"/>
              </a:buClr>
              <a:buSzPts val="2100"/>
              <a:buNone/>
            </a:pPr>
            <a:r>
              <a:rPr lang="en">
                <a:latin typeface="Times New Roman"/>
                <a:ea typeface="Times New Roman"/>
                <a:cs typeface="Times New Roman"/>
                <a:sym typeface="Times New Roman"/>
              </a:rPr>
              <a:t>Various traditional energy monitoring systems and statistical forecasting methods have been studied to understand existing approaches. Machine learning models and deep learning techniques such as LSTM have been explored for time-series energy prediction. The literature review highlights that although many systems exist, there is a research gap in combining accurate prediction with practical energy optimization and user-friendly visualization systems.</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4" name="Shape 164"/>
        <p:cNvGrpSpPr/>
        <p:nvPr/>
      </p:nvGrpSpPr>
      <p:grpSpPr>
        <a:xfrm>
          <a:off x="0" y="0"/>
          <a:ext cx="0" cy="0"/>
          <a:chOff x="0" y="0"/>
          <a:chExt cx="0" cy="0"/>
        </a:xfrm>
      </p:grpSpPr>
      <p:sp>
        <p:nvSpPr>
          <p:cNvPr id="165" name="Google Shape;165;p3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Scope of the Project</a:t>
            </a:r>
            <a:endParaRPr/>
          </a:p>
        </p:txBody>
      </p:sp>
      <p:sp>
        <p:nvSpPr>
          <p:cNvPr id="166" name="Google Shape;166;p31"/>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0" lvl="0" marL="0" rtl="0" algn="just">
              <a:lnSpc>
                <a:spcPct val="90000"/>
              </a:lnSpc>
              <a:spcBef>
                <a:spcPts val="0"/>
              </a:spcBef>
              <a:spcAft>
                <a:spcPts val="0"/>
              </a:spcAft>
              <a:buClr>
                <a:schemeClr val="dk1"/>
              </a:buClr>
              <a:buSzPts val="2100"/>
              <a:buNone/>
            </a:pPr>
            <a:r>
              <a:rPr lang="en">
                <a:latin typeface="Times New Roman"/>
                <a:ea typeface="Times New Roman"/>
                <a:cs typeface="Times New Roman"/>
                <a:sym typeface="Times New Roman"/>
              </a:rPr>
              <a:t>The project mainly focuses on residential household energy consumption. It aims at reducing energy costs, promoting sustainable energy usage, and improving efficiency. The system can be further extended to smart homes, smart buildings, and smart grid environments for large-scale energy management.</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p32"/>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System Architecture</a:t>
            </a:r>
            <a:endParaRPr>
              <a:latin typeface="Times New Roman"/>
              <a:ea typeface="Times New Roman"/>
              <a:cs typeface="Times New Roman"/>
              <a:sym typeface="Times New Roman"/>
            </a:endParaRPr>
          </a:p>
        </p:txBody>
      </p:sp>
      <p:sp>
        <p:nvSpPr>
          <p:cNvPr id="172" name="Google Shape;172;p32"/>
          <p:cNvSpPr/>
          <p:nvPr/>
        </p:nvSpPr>
        <p:spPr>
          <a:xfrm>
            <a:off x="2846439" y="1430594"/>
            <a:ext cx="2772697" cy="317090"/>
          </a:xfrm>
          <a:prstGeom prst="flowChartProcess">
            <a:avLst/>
          </a:prstGeom>
          <a:solidFill>
            <a:schemeClr val="lt1"/>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2100" u="none" cap="none" strike="noStrike">
                <a:solidFill>
                  <a:schemeClr val="dk1"/>
                </a:solidFill>
                <a:latin typeface="Times New Roman"/>
                <a:ea typeface="Times New Roman"/>
                <a:cs typeface="Times New Roman"/>
                <a:sym typeface="Times New Roman"/>
              </a:rPr>
              <a:t>Data collection</a:t>
            </a:r>
            <a:endParaRPr sz="1100"/>
          </a:p>
        </p:txBody>
      </p:sp>
      <p:sp>
        <p:nvSpPr>
          <p:cNvPr id="173" name="Google Shape;173;p32"/>
          <p:cNvSpPr/>
          <p:nvPr/>
        </p:nvSpPr>
        <p:spPr>
          <a:xfrm>
            <a:off x="2846438" y="1967066"/>
            <a:ext cx="2772697" cy="317090"/>
          </a:xfrm>
          <a:prstGeom prst="flowChartProcess">
            <a:avLst/>
          </a:prstGeom>
          <a:solidFill>
            <a:schemeClr val="lt1"/>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2100" u="none" cap="none" strike="noStrike">
                <a:solidFill>
                  <a:schemeClr val="dk1"/>
                </a:solidFill>
                <a:latin typeface="Times New Roman"/>
                <a:ea typeface="Times New Roman"/>
                <a:cs typeface="Times New Roman"/>
                <a:sym typeface="Times New Roman"/>
              </a:rPr>
              <a:t>Preprocessing</a:t>
            </a:r>
            <a:endParaRPr sz="1100"/>
          </a:p>
        </p:txBody>
      </p:sp>
      <p:sp>
        <p:nvSpPr>
          <p:cNvPr id="174" name="Google Shape;174;p32"/>
          <p:cNvSpPr/>
          <p:nvPr/>
        </p:nvSpPr>
        <p:spPr>
          <a:xfrm>
            <a:off x="2846438" y="2556079"/>
            <a:ext cx="2772697" cy="317090"/>
          </a:xfrm>
          <a:prstGeom prst="flowChartProcess">
            <a:avLst/>
          </a:prstGeom>
          <a:solidFill>
            <a:schemeClr val="lt1"/>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2100" u="none" cap="none" strike="noStrike">
                <a:solidFill>
                  <a:schemeClr val="dk1"/>
                </a:solidFill>
                <a:latin typeface="Times New Roman"/>
                <a:ea typeface="Times New Roman"/>
                <a:cs typeface="Times New Roman"/>
                <a:sym typeface="Times New Roman"/>
              </a:rPr>
              <a:t>Prediction model</a:t>
            </a:r>
            <a:endParaRPr sz="1100"/>
          </a:p>
        </p:txBody>
      </p:sp>
      <p:sp>
        <p:nvSpPr>
          <p:cNvPr id="175" name="Google Shape;175;p32"/>
          <p:cNvSpPr/>
          <p:nvPr/>
        </p:nvSpPr>
        <p:spPr>
          <a:xfrm>
            <a:off x="2846438" y="3156152"/>
            <a:ext cx="2772697" cy="317090"/>
          </a:xfrm>
          <a:prstGeom prst="flowChartProcess">
            <a:avLst/>
          </a:prstGeom>
          <a:solidFill>
            <a:schemeClr val="lt1"/>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2100" u="none" cap="none" strike="noStrike">
                <a:solidFill>
                  <a:schemeClr val="dk1"/>
                </a:solidFill>
                <a:latin typeface="Times New Roman"/>
                <a:ea typeface="Times New Roman"/>
                <a:cs typeface="Times New Roman"/>
                <a:sym typeface="Times New Roman"/>
              </a:rPr>
              <a:t>Optimization module</a:t>
            </a:r>
            <a:endParaRPr sz="1100"/>
          </a:p>
        </p:txBody>
      </p:sp>
      <p:sp>
        <p:nvSpPr>
          <p:cNvPr id="176" name="Google Shape;176;p32"/>
          <p:cNvSpPr/>
          <p:nvPr/>
        </p:nvSpPr>
        <p:spPr>
          <a:xfrm>
            <a:off x="2846437" y="3730415"/>
            <a:ext cx="2772697" cy="376085"/>
          </a:xfrm>
          <a:prstGeom prst="flowChartProcess">
            <a:avLst/>
          </a:prstGeom>
          <a:solidFill>
            <a:schemeClr val="lt1"/>
          </a:solidFill>
          <a:ln cap="flat" cmpd="sng" w="28575">
            <a:solidFill>
              <a:schemeClr val="dk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sz="2100" u="none" cap="none" strike="noStrike">
                <a:solidFill>
                  <a:schemeClr val="dk1"/>
                </a:solidFill>
                <a:latin typeface="Times New Roman"/>
                <a:ea typeface="Times New Roman"/>
                <a:cs typeface="Times New Roman"/>
                <a:sym typeface="Times New Roman"/>
              </a:rPr>
              <a:t>Visualization dashboard</a:t>
            </a:r>
            <a:endParaRPr sz="1100"/>
          </a:p>
        </p:txBody>
      </p:sp>
      <p:cxnSp>
        <p:nvCxnSpPr>
          <p:cNvPr id="177" name="Google Shape;177;p32"/>
          <p:cNvCxnSpPr>
            <a:endCxn id="173" idx="0"/>
          </p:cNvCxnSpPr>
          <p:nvPr/>
        </p:nvCxnSpPr>
        <p:spPr>
          <a:xfrm>
            <a:off x="4232787" y="1747766"/>
            <a:ext cx="0" cy="219300"/>
          </a:xfrm>
          <a:prstGeom prst="straightConnector1">
            <a:avLst/>
          </a:prstGeom>
          <a:noFill/>
          <a:ln cap="flat" cmpd="sng" w="28575">
            <a:solidFill>
              <a:schemeClr val="dk1"/>
            </a:solidFill>
            <a:prstDash val="solid"/>
            <a:miter lim="800000"/>
            <a:headEnd len="sm" w="sm" type="none"/>
            <a:tailEnd len="med" w="med" type="triangle"/>
          </a:ln>
        </p:spPr>
      </p:cxnSp>
      <p:cxnSp>
        <p:nvCxnSpPr>
          <p:cNvPr id="178" name="Google Shape;178;p32"/>
          <p:cNvCxnSpPr>
            <a:stCxn id="173" idx="2"/>
            <a:endCxn id="174" idx="0"/>
          </p:cNvCxnSpPr>
          <p:nvPr/>
        </p:nvCxnSpPr>
        <p:spPr>
          <a:xfrm>
            <a:off x="4232787" y="2284157"/>
            <a:ext cx="0" cy="271800"/>
          </a:xfrm>
          <a:prstGeom prst="straightConnector1">
            <a:avLst/>
          </a:prstGeom>
          <a:noFill/>
          <a:ln cap="flat" cmpd="sng" w="28575">
            <a:solidFill>
              <a:schemeClr val="dk1"/>
            </a:solidFill>
            <a:prstDash val="solid"/>
            <a:miter lim="800000"/>
            <a:headEnd len="sm" w="sm" type="none"/>
            <a:tailEnd len="med" w="med" type="triangle"/>
          </a:ln>
        </p:spPr>
      </p:cxnSp>
      <p:cxnSp>
        <p:nvCxnSpPr>
          <p:cNvPr id="179" name="Google Shape;179;p32"/>
          <p:cNvCxnSpPr>
            <a:stCxn id="174" idx="2"/>
            <a:endCxn id="175" idx="0"/>
          </p:cNvCxnSpPr>
          <p:nvPr/>
        </p:nvCxnSpPr>
        <p:spPr>
          <a:xfrm>
            <a:off x="4232786" y="2873169"/>
            <a:ext cx="0" cy="282900"/>
          </a:xfrm>
          <a:prstGeom prst="straightConnector1">
            <a:avLst/>
          </a:prstGeom>
          <a:noFill/>
          <a:ln cap="flat" cmpd="sng" w="28575">
            <a:solidFill>
              <a:schemeClr val="dk1"/>
            </a:solidFill>
            <a:prstDash val="solid"/>
            <a:miter lim="800000"/>
            <a:headEnd len="sm" w="sm" type="none"/>
            <a:tailEnd len="med" w="med" type="triangle"/>
          </a:ln>
        </p:spPr>
      </p:cxnSp>
      <p:cxnSp>
        <p:nvCxnSpPr>
          <p:cNvPr id="180" name="Google Shape;180;p32"/>
          <p:cNvCxnSpPr>
            <a:stCxn id="175" idx="2"/>
            <a:endCxn id="176" idx="0"/>
          </p:cNvCxnSpPr>
          <p:nvPr/>
        </p:nvCxnSpPr>
        <p:spPr>
          <a:xfrm>
            <a:off x="4232786" y="3473242"/>
            <a:ext cx="0" cy="257100"/>
          </a:xfrm>
          <a:prstGeom prst="straightConnector1">
            <a:avLst/>
          </a:prstGeom>
          <a:noFill/>
          <a:ln cap="flat" cmpd="sng" w="28575">
            <a:solidFill>
              <a:schemeClr val="dk1"/>
            </a:solidFill>
            <a:prstDash val="solid"/>
            <a:miter lim="800000"/>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4" name="Shape 184"/>
        <p:cNvGrpSpPr/>
        <p:nvPr/>
      </p:nvGrpSpPr>
      <p:grpSpPr>
        <a:xfrm>
          <a:off x="0" y="0"/>
          <a:ext cx="0" cy="0"/>
          <a:chOff x="0" y="0"/>
          <a:chExt cx="0" cy="0"/>
        </a:xfrm>
      </p:grpSpPr>
      <p:sp>
        <p:nvSpPr>
          <p:cNvPr id="185" name="Google Shape;185;p3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Methodology / Workflow</a:t>
            </a:r>
            <a:endParaRPr/>
          </a:p>
        </p:txBody>
      </p:sp>
      <p:sp>
        <p:nvSpPr>
          <p:cNvPr id="186" name="Google Shape;186;p3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374650" lvl="0" marL="381000" rtl="0" algn="l">
              <a:lnSpc>
                <a:spcPct val="90000"/>
              </a:lnSpc>
              <a:spcBef>
                <a:spcPts val="0"/>
              </a:spcBef>
              <a:spcAft>
                <a:spcPts val="0"/>
              </a:spcAft>
              <a:buClr>
                <a:schemeClr val="dk1"/>
              </a:buClr>
              <a:buSzPts val="2100"/>
              <a:buFont typeface="Calibri"/>
              <a:buAutoNum type="arabicPeriod"/>
            </a:pPr>
            <a:r>
              <a:rPr lang="en">
                <a:latin typeface="Times New Roman"/>
                <a:ea typeface="Times New Roman"/>
                <a:cs typeface="Times New Roman"/>
                <a:sym typeface="Times New Roman"/>
              </a:rPr>
              <a:t>Data preprocessing</a:t>
            </a:r>
            <a:endParaRPr/>
          </a:p>
          <a:p>
            <a:pPr indent="-374650" lvl="0" marL="381000" rtl="0" algn="l">
              <a:lnSpc>
                <a:spcPct val="90000"/>
              </a:lnSpc>
              <a:spcBef>
                <a:spcPts val="800"/>
              </a:spcBef>
              <a:spcAft>
                <a:spcPts val="0"/>
              </a:spcAft>
              <a:buClr>
                <a:schemeClr val="dk1"/>
              </a:buClr>
              <a:buSzPts val="2100"/>
              <a:buFont typeface="Calibri"/>
              <a:buAutoNum type="arabicPeriod"/>
            </a:pPr>
            <a:r>
              <a:rPr lang="en">
                <a:latin typeface="Times New Roman"/>
                <a:ea typeface="Times New Roman"/>
                <a:cs typeface="Times New Roman"/>
                <a:sym typeface="Times New Roman"/>
              </a:rPr>
              <a:t>Feature extraction</a:t>
            </a:r>
            <a:endParaRPr/>
          </a:p>
          <a:p>
            <a:pPr indent="-374650" lvl="0" marL="381000" rtl="0" algn="l">
              <a:lnSpc>
                <a:spcPct val="90000"/>
              </a:lnSpc>
              <a:spcBef>
                <a:spcPts val="800"/>
              </a:spcBef>
              <a:spcAft>
                <a:spcPts val="0"/>
              </a:spcAft>
              <a:buClr>
                <a:schemeClr val="dk1"/>
              </a:buClr>
              <a:buSzPts val="2100"/>
              <a:buFont typeface="Calibri"/>
              <a:buAutoNum type="arabicPeriod"/>
            </a:pPr>
            <a:r>
              <a:rPr lang="en">
                <a:latin typeface="Times New Roman"/>
                <a:ea typeface="Times New Roman"/>
                <a:cs typeface="Times New Roman"/>
                <a:sym typeface="Times New Roman"/>
              </a:rPr>
              <a:t>Model training</a:t>
            </a:r>
            <a:endParaRPr/>
          </a:p>
          <a:p>
            <a:pPr indent="-374650" lvl="0" marL="381000" rtl="0" algn="l">
              <a:lnSpc>
                <a:spcPct val="90000"/>
              </a:lnSpc>
              <a:spcBef>
                <a:spcPts val="800"/>
              </a:spcBef>
              <a:spcAft>
                <a:spcPts val="0"/>
              </a:spcAft>
              <a:buClr>
                <a:schemeClr val="dk1"/>
              </a:buClr>
              <a:buSzPts val="2100"/>
              <a:buFont typeface="Calibri"/>
              <a:buAutoNum type="arabicPeriod"/>
            </a:pPr>
            <a:r>
              <a:rPr lang="en">
                <a:latin typeface="Times New Roman"/>
                <a:ea typeface="Times New Roman"/>
                <a:cs typeface="Times New Roman"/>
                <a:sym typeface="Times New Roman"/>
              </a:rPr>
              <a:t>Prediction</a:t>
            </a:r>
            <a:endParaRPr/>
          </a:p>
          <a:p>
            <a:pPr indent="-374650" lvl="0" marL="381000" rtl="0" algn="l">
              <a:lnSpc>
                <a:spcPct val="90000"/>
              </a:lnSpc>
              <a:spcBef>
                <a:spcPts val="800"/>
              </a:spcBef>
              <a:spcAft>
                <a:spcPts val="0"/>
              </a:spcAft>
              <a:buClr>
                <a:schemeClr val="dk1"/>
              </a:buClr>
              <a:buSzPts val="2100"/>
              <a:buFont typeface="Calibri"/>
              <a:buAutoNum type="arabicPeriod"/>
            </a:pPr>
            <a:r>
              <a:rPr lang="en">
                <a:latin typeface="Times New Roman"/>
                <a:ea typeface="Times New Roman"/>
                <a:cs typeface="Times New Roman"/>
                <a:sym typeface="Times New Roman"/>
              </a:rPr>
              <a:t>Optimization</a:t>
            </a:r>
            <a:endParaRPr/>
          </a:p>
          <a:p>
            <a:pPr indent="-374650" lvl="0" marL="381000" rtl="0" algn="l">
              <a:lnSpc>
                <a:spcPct val="90000"/>
              </a:lnSpc>
              <a:spcBef>
                <a:spcPts val="800"/>
              </a:spcBef>
              <a:spcAft>
                <a:spcPts val="0"/>
              </a:spcAft>
              <a:buClr>
                <a:schemeClr val="dk1"/>
              </a:buClr>
              <a:buSzPts val="2100"/>
              <a:buFont typeface="Calibri"/>
              <a:buAutoNum type="arabicPeriod"/>
            </a:pPr>
            <a:r>
              <a:rPr lang="en">
                <a:latin typeface="Times New Roman"/>
                <a:ea typeface="Times New Roman"/>
                <a:cs typeface="Times New Roman"/>
                <a:sym typeface="Times New Roman"/>
              </a:rPr>
              <a:t>Result analysis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0" name="Shape 190"/>
        <p:cNvGrpSpPr/>
        <p:nvPr/>
      </p:nvGrpSpPr>
      <p:grpSpPr>
        <a:xfrm>
          <a:off x="0" y="0"/>
          <a:ext cx="0" cy="0"/>
          <a:chOff x="0" y="0"/>
          <a:chExt cx="0" cy="0"/>
        </a:xfrm>
      </p:grpSpPr>
      <p:sp>
        <p:nvSpPr>
          <p:cNvPr id="191" name="Google Shape;191;p3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Algorithms Used</a:t>
            </a:r>
            <a:endParaRPr/>
          </a:p>
        </p:txBody>
      </p:sp>
      <p:sp>
        <p:nvSpPr>
          <p:cNvPr id="192" name="Google Shape;192;p34"/>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171450" lvl="0" marL="177800" rtl="0" algn="just">
              <a:lnSpc>
                <a:spcPct val="90000"/>
              </a:lnSpc>
              <a:spcBef>
                <a:spcPts val="0"/>
              </a:spcBef>
              <a:spcAft>
                <a:spcPts val="0"/>
              </a:spcAft>
              <a:buClr>
                <a:schemeClr val="dk1"/>
              </a:buClr>
              <a:buSzPts val="2100"/>
              <a:buFont typeface="Noto Sans Symbols"/>
              <a:buChar char="▪"/>
            </a:pPr>
            <a:r>
              <a:rPr lang="en">
                <a:latin typeface="Times New Roman"/>
                <a:ea typeface="Times New Roman"/>
                <a:cs typeface="Times New Roman"/>
                <a:sym typeface="Times New Roman"/>
              </a:rPr>
              <a:t>Linear Regression</a:t>
            </a:r>
            <a:endParaRPr/>
          </a:p>
          <a:p>
            <a:pPr indent="-171450" lvl="0" marL="177800" rtl="0" algn="just">
              <a:lnSpc>
                <a:spcPct val="90000"/>
              </a:lnSpc>
              <a:spcBef>
                <a:spcPts val="800"/>
              </a:spcBef>
              <a:spcAft>
                <a:spcPts val="0"/>
              </a:spcAft>
              <a:buClr>
                <a:schemeClr val="dk1"/>
              </a:buClr>
              <a:buSzPts val="2100"/>
              <a:buFont typeface="Noto Sans Symbols"/>
              <a:buChar char="▪"/>
            </a:pPr>
            <a:r>
              <a:rPr lang="en">
                <a:latin typeface="Times New Roman"/>
                <a:ea typeface="Times New Roman"/>
                <a:cs typeface="Times New Roman"/>
                <a:sym typeface="Times New Roman"/>
              </a:rPr>
              <a:t>Random Forest</a:t>
            </a:r>
            <a:endParaRPr/>
          </a:p>
          <a:p>
            <a:pPr indent="-171450" lvl="0" marL="177800" rtl="0" algn="just">
              <a:lnSpc>
                <a:spcPct val="90000"/>
              </a:lnSpc>
              <a:spcBef>
                <a:spcPts val="800"/>
              </a:spcBef>
              <a:spcAft>
                <a:spcPts val="0"/>
              </a:spcAft>
              <a:buClr>
                <a:schemeClr val="dk1"/>
              </a:buClr>
              <a:buSzPts val="2100"/>
              <a:buFont typeface="Noto Sans Symbols"/>
              <a:buChar char="▪"/>
            </a:pPr>
            <a:r>
              <a:rPr lang="en">
                <a:latin typeface="Times New Roman"/>
                <a:ea typeface="Times New Roman"/>
                <a:cs typeface="Times New Roman"/>
                <a:sym typeface="Times New Roman"/>
              </a:rPr>
              <a:t>Support Vector Machine (SVM)</a:t>
            </a:r>
            <a:endParaRPr/>
          </a:p>
          <a:p>
            <a:pPr indent="-171450" lvl="0" marL="177800" rtl="0" algn="just">
              <a:lnSpc>
                <a:spcPct val="90000"/>
              </a:lnSpc>
              <a:spcBef>
                <a:spcPts val="800"/>
              </a:spcBef>
              <a:spcAft>
                <a:spcPts val="0"/>
              </a:spcAft>
              <a:buClr>
                <a:schemeClr val="dk1"/>
              </a:buClr>
              <a:buSzPts val="2100"/>
              <a:buFont typeface="Noto Sans Symbols"/>
              <a:buChar char="▪"/>
            </a:pPr>
            <a:r>
              <a:rPr lang="en">
                <a:latin typeface="Times New Roman"/>
                <a:ea typeface="Times New Roman"/>
                <a:cs typeface="Times New Roman"/>
                <a:sym typeface="Times New Roman"/>
              </a:rPr>
              <a:t>Long Short-Term Memory (LSTM) : it is the primary model because it is highly suitable for time-series data, captures long-term dependencies, and provides higher prediction accuracy.</a:t>
            </a:r>
            <a:endParaRPr>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6" name="Shape 196"/>
        <p:cNvGrpSpPr/>
        <p:nvPr/>
      </p:nvGrpSpPr>
      <p:grpSpPr>
        <a:xfrm>
          <a:off x="0" y="0"/>
          <a:ext cx="0" cy="0"/>
          <a:chOff x="0" y="0"/>
          <a:chExt cx="0" cy="0"/>
        </a:xfrm>
      </p:grpSpPr>
      <p:sp>
        <p:nvSpPr>
          <p:cNvPr id="197" name="Google Shape;197;p3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Technologies Used</a:t>
            </a:r>
            <a:endParaRPr/>
          </a:p>
        </p:txBody>
      </p:sp>
      <p:sp>
        <p:nvSpPr>
          <p:cNvPr id="198" name="Google Shape;198;p3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Char char="•"/>
            </a:pPr>
            <a:r>
              <a:rPr lang="en"/>
              <a:t>Python</a:t>
            </a:r>
            <a:endParaRPr/>
          </a:p>
          <a:p>
            <a:pPr indent="-171450" lvl="0" marL="177800" rtl="0" algn="l">
              <a:lnSpc>
                <a:spcPct val="90000"/>
              </a:lnSpc>
              <a:spcBef>
                <a:spcPts val="800"/>
              </a:spcBef>
              <a:spcAft>
                <a:spcPts val="0"/>
              </a:spcAft>
              <a:buClr>
                <a:schemeClr val="dk1"/>
              </a:buClr>
              <a:buSzPts val="2100"/>
              <a:buChar char="•"/>
            </a:pPr>
            <a:r>
              <a:rPr lang="en"/>
              <a:t>Streamlit</a:t>
            </a:r>
            <a:endParaRPr/>
          </a:p>
          <a:p>
            <a:pPr indent="-171450" lvl="0" marL="177800" rtl="0" algn="l">
              <a:lnSpc>
                <a:spcPct val="90000"/>
              </a:lnSpc>
              <a:spcBef>
                <a:spcPts val="800"/>
              </a:spcBef>
              <a:spcAft>
                <a:spcPts val="0"/>
              </a:spcAft>
              <a:buClr>
                <a:schemeClr val="dk1"/>
              </a:buClr>
              <a:buSzPts val="2100"/>
              <a:buChar char="•"/>
            </a:pPr>
            <a:r>
              <a:rPr lang="en"/>
              <a:t>Libraries (NumPy, Pandas, TensorFlow, etc.)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sp>
        <p:nvSpPr>
          <p:cNvPr id="203" name="Google Shape;203;p3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Performance Metrics</a:t>
            </a:r>
            <a:endParaRPr/>
          </a:p>
        </p:txBody>
      </p:sp>
      <p:sp>
        <p:nvSpPr>
          <p:cNvPr id="204" name="Google Shape;204;p36"/>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0" lvl="0" marL="0" rtl="0" algn="just">
              <a:lnSpc>
                <a:spcPct val="90000"/>
              </a:lnSpc>
              <a:spcBef>
                <a:spcPts val="0"/>
              </a:spcBef>
              <a:spcAft>
                <a:spcPts val="0"/>
              </a:spcAft>
              <a:buClr>
                <a:schemeClr val="dk1"/>
              </a:buClr>
              <a:buSzPts val="2100"/>
              <a:buNone/>
            </a:pPr>
            <a:r>
              <a:rPr lang="en">
                <a:latin typeface="Times New Roman"/>
                <a:ea typeface="Times New Roman"/>
                <a:cs typeface="Times New Roman"/>
                <a:sym typeface="Times New Roman"/>
              </a:rPr>
              <a:t>The system performance is evaluated using metrics such as Mean Absolute Error (MAE), Mean Squared Error (MSE), Root Mean Squared Error (RMSE), and prediction accuracy. These metrics help in measuring the effectiveness and reliability of the prediction models.</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8" name="Shape 208"/>
        <p:cNvGrpSpPr/>
        <p:nvPr/>
      </p:nvGrpSpPr>
      <p:grpSpPr>
        <a:xfrm>
          <a:off x="0" y="0"/>
          <a:ext cx="0" cy="0"/>
          <a:chOff x="0" y="0"/>
          <a:chExt cx="0" cy="0"/>
        </a:xfrm>
      </p:grpSpPr>
      <p:sp>
        <p:nvSpPr>
          <p:cNvPr id="209" name="Google Shape;209;p3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Prototype / Implementation</a:t>
            </a:r>
            <a:endParaRPr/>
          </a:p>
        </p:txBody>
      </p:sp>
      <p:pic>
        <p:nvPicPr>
          <p:cNvPr id="210" name="Google Shape;210;p37"/>
          <p:cNvPicPr preferRelativeResize="0"/>
          <p:nvPr/>
        </p:nvPicPr>
        <p:blipFill>
          <a:blip r:embed="rId4">
            <a:alphaModFix/>
          </a:blip>
          <a:stretch>
            <a:fillRect/>
          </a:stretch>
        </p:blipFill>
        <p:spPr>
          <a:xfrm>
            <a:off x="152400" y="1166916"/>
            <a:ext cx="8839200" cy="32450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4" name="Shape 214"/>
        <p:cNvGrpSpPr/>
        <p:nvPr/>
      </p:nvGrpSpPr>
      <p:grpSpPr>
        <a:xfrm>
          <a:off x="0" y="0"/>
          <a:ext cx="0" cy="0"/>
          <a:chOff x="0" y="0"/>
          <a:chExt cx="0" cy="0"/>
        </a:xfrm>
      </p:grpSpPr>
      <p:sp>
        <p:nvSpPr>
          <p:cNvPr id="215" name="Google Shape;215;p3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Results &amp; Analysis</a:t>
            </a:r>
            <a:endParaRPr/>
          </a:p>
        </p:txBody>
      </p:sp>
      <p:sp>
        <p:nvSpPr>
          <p:cNvPr id="216" name="Google Shape;216;p38"/>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38100" lvl="0" marL="177800" rtl="0" algn="l">
              <a:lnSpc>
                <a:spcPct val="90000"/>
              </a:lnSpc>
              <a:spcBef>
                <a:spcPts val="0"/>
              </a:spcBef>
              <a:spcAft>
                <a:spcPts val="0"/>
              </a:spcAft>
              <a:buClr>
                <a:schemeClr val="dk1"/>
              </a:buClr>
              <a:buSzPts val="2100"/>
              <a:buNone/>
            </a:pPr>
            <a:r>
              <a:t/>
            </a:r>
            <a:endParaRPr/>
          </a:p>
        </p:txBody>
      </p:sp>
      <p:pic>
        <p:nvPicPr>
          <p:cNvPr id="217" name="Google Shape;217;p38"/>
          <p:cNvPicPr preferRelativeResize="0"/>
          <p:nvPr/>
        </p:nvPicPr>
        <p:blipFill>
          <a:blip r:embed="rId4">
            <a:alphaModFix/>
          </a:blip>
          <a:stretch>
            <a:fillRect/>
          </a:stretch>
        </p:blipFill>
        <p:spPr>
          <a:xfrm>
            <a:off x="455900" y="1139763"/>
            <a:ext cx="8232202" cy="37224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1" name="Shape 221"/>
        <p:cNvGrpSpPr/>
        <p:nvPr/>
      </p:nvGrpSpPr>
      <p:grpSpPr>
        <a:xfrm>
          <a:off x="0" y="0"/>
          <a:ext cx="0" cy="0"/>
          <a:chOff x="0" y="0"/>
          <a:chExt cx="0" cy="0"/>
        </a:xfrm>
      </p:grpSpPr>
      <p:sp>
        <p:nvSpPr>
          <p:cNvPr id="222" name="Google Shape;222;p3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t/>
            </a:r>
            <a:endParaRPr/>
          </a:p>
        </p:txBody>
      </p:sp>
      <p:sp>
        <p:nvSpPr>
          <p:cNvPr id="223" name="Google Shape;223;p39"/>
          <p:cNvSpPr txBox="1"/>
          <p:nvPr>
            <p:ph idx="1" type="body"/>
          </p:nvPr>
        </p:nvSpPr>
        <p:spPr>
          <a:xfrm>
            <a:off x="283700" y="228402"/>
            <a:ext cx="8231700" cy="4404300"/>
          </a:xfrm>
          <a:prstGeom prst="rect">
            <a:avLst/>
          </a:prstGeom>
          <a:noFill/>
          <a:ln>
            <a:noFill/>
          </a:ln>
        </p:spPr>
        <p:txBody>
          <a:bodyPr anchorCtr="0" anchor="t" bIns="34275" lIns="68575" spcFirstLastPara="1" rIns="68575" wrap="square" tIns="34275">
            <a:normAutofit/>
          </a:bodyPr>
          <a:lstStyle/>
          <a:p>
            <a:pPr indent="-38100" lvl="0" marL="177800" rtl="0" algn="l">
              <a:lnSpc>
                <a:spcPct val="90000"/>
              </a:lnSpc>
              <a:spcBef>
                <a:spcPts val="0"/>
              </a:spcBef>
              <a:spcAft>
                <a:spcPts val="0"/>
              </a:spcAft>
              <a:buClr>
                <a:schemeClr val="dk1"/>
              </a:buClr>
              <a:buSzPts val="2100"/>
              <a:buNone/>
            </a:pPr>
            <a:r>
              <a:t/>
            </a:r>
            <a:endParaRPr/>
          </a:p>
        </p:txBody>
      </p:sp>
      <p:pic>
        <p:nvPicPr>
          <p:cNvPr id="224" name="Google Shape;224;p39"/>
          <p:cNvPicPr preferRelativeResize="0"/>
          <p:nvPr/>
        </p:nvPicPr>
        <p:blipFill>
          <a:blip r:embed="rId4">
            <a:alphaModFix/>
          </a:blip>
          <a:stretch>
            <a:fillRect/>
          </a:stretch>
        </p:blipFill>
        <p:spPr>
          <a:xfrm>
            <a:off x="184575" y="228400"/>
            <a:ext cx="8774848" cy="42991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8" name="Shape 228"/>
        <p:cNvGrpSpPr/>
        <p:nvPr/>
      </p:nvGrpSpPr>
      <p:grpSpPr>
        <a:xfrm>
          <a:off x="0" y="0"/>
          <a:ext cx="0" cy="0"/>
          <a:chOff x="0" y="0"/>
          <a:chExt cx="0" cy="0"/>
        </a:xfrm>
      </p:grpSpPr>
      <p:sp>
        <p:nvSpPr>
          <p:cNvPr id="229" name="Google Shape;229;p4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Results &amp; Analysis</a:t>
            </a:r>
            <a:endParaRPr/>
          </a:p>
        </p:txBody>
      </p:sp>
      <p:sp>
        <p:nvSpPr>
          <p:cNvPr id="230" name="Google Shape;230;p40"/>
          <p:cNvSpPr txBox="1"/>
          <p:nvPr>
            <p:ph idx="1" type="body"/>
          </p:nvPr>
        </p:nvSpPr>
        <p:spPr>
          <a:xfrm>
            <a:off x="405900" y="254019"/>
            <a:ext cx="7886700" cy="3263400"/>
          </a:xfrm>
          <a:prstGeom prst="rect">
            <a:avLst/>
          </a:prstGeom>
          <a:noFill/>
          <a:ln>
            <a:noFill/>
          </a:ln>
        </p:spPr>
        <p:txBody>
          <a:bodyPr anchorCtr="0" anchor="t" bIns="34275" lIns="68575" spcFirstLastPara="1" rIns="68575" wrap="square" tIns="34275">
            <a:normAutofit/>
          </a:bodyPr>
          <a:lstStyle/>
          <a:p>
            <a:pPr indent="-38100" lvl="0" marL="177800" rtl="0" algn="l">
              <a:lnSpc>
                <a:spcPct val="90000"/>
              </a:lnSpc>
              <a:spcBef>
                <a:spcPts val="0"/>
              </a:spcBef>
              <a:spcAft>
                <a:spcPts val="0"/>
              </a:spcAft>
              <a:buClr>
                <a:schemeClr val="dk1"/>
              </a:buClr>
              <a:buSzPts val="2100"/>
              <a:buNone/>
            </a:pPr>
            <a:r>
              <a:t/>
            </a:r>
            <a:endParaRPr/>
          </a:p>
        </p:txBody>
      </p:sp>
      <p:pic>
        <p:nvPicPr>
          <p:cNvPr id="231" name="Google Shape;231;p40"/>
          <p:cNvPicPr preferRelativeResize="0"/>
          <p:nvPr/>
        </p:nvPicPr>
        <p:blipFill>
          <a:blip r:embed="rId4">
            <a:alphaModFix/>
          </a:blip>
          <a:stretch>
            <a:fillRect/>
          </a:stretch>
        </p:blipFill>
        <p:spPr>
          <a:xfrm>
            <a:off x="229225" y="200249"/>
            <a:ext cx="8619273" cy="3566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5" name="Shape 235"/>
        <p:cNvGrpSpPr/>
        <p:nvPr/>
      </p:nvGrpSpPr>
      <p:grpSpPr>
        <a:xfrm>
          <a:off x="0" y="0"/>
          <a:ext cx="0" cy="0"/>
          <a:chOff x="0" y="0"/>
          <a:chExt cx="0" cy="0"/>
        </a:xfrm>
      </p:grpSpPr>
      <p:sp>
        <p:nvSpPr>
          <p:cNvPr id="236" name="Google Shape;236;p4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Results &amp; Analysis</a:t>
            </a:r>
            <a:endParaRPr/>
          </a:p>
        </p:txBody>
      </p:sp>
      <p:sp>
        <p:nvSpPr>
          <p:cNvPr id="237" name="Google Shape;237;p4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38100" lvl="0" marL="177800" rtl="0" algn="l">
              <a:lnSpc>
                <a:spcPct val="90000"/>
              </a:lnSpc>
              <a:spcBef>
                <a:spcPts val="0"/>
              </a:spcBef>
              <a:spcAft>
                <a:spcPts val="0"/>
              </a:spcAft>
              <a:buClr>
                <a:schemeClr val="dk1"/>
              </a:buClr>
              <a:buSzPts val="2100"/>
              <a:buNone/>
            </a:pPr>
            <a:r>
              <a:t/>
            </a:r>
            <a:endParaRPr/>
          </a:p>
        </p:txBody>
      </p:sp>
      <p:pic>
        <p:nvPicPr>
          <p:cNvPr id="238" name="Google Shape;238;p41"/>
          <p:cNvPicPr preferRelativeResize="0"/>
          <p:nvPr/>
        </p:nvPicPr>
        <p:blipFill>
          <a:blip r:embed="rId4">
            <a:alphaModFix/>
          </a:blip>
          <a:stretch>
            <a:fillRect/>
          </a:stretch>
        </p:blipFill>
        <p:spPr>
          <a:xfrm>
            <a:off x="217100" y="138275"/>
            <a:ext cx="8709802" cy="4093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2" name="Shape 242"/>
        <p:cNvGrpSpPr/>
        <p:nvPr/>
      </p:nvGrpSpPr>
      <p:grpSpPr>
        <a:xfrm>
          <a:off x="0" y="0"/>
          <a:ext cx="0" cy="0"/>
          <a:chOff x="0" y="0"/>
          <a:chExt cx="0" cy="0"/>
        </a:xfrm>
      </p:grpSpPr>
      <p:sp>
        <p:nvSpPr>
          <p:cNvPr id="243" name="Google Shape;243;p4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Results &amp; Analysis</a:t>
            </a:r>
            <a:endParaRPr/>
          </a:p>
        </p:txBody>
      </p:sp>
      <p:sp>
        <p:nvSpPr>
          <p:cNvPr id="244" name="Google Shape;244;p42"/>
          <p:cNvSpPr txBox="1"/>
          <p:nvPr>
            <p:ph idx="1" type="body"/>
          </p:nvPr>
        </p:nvSpPr>
        <p:spPr>
          <a:xfrm>
            <a:off x="529500" y="320575"/>
            <a:ext cx="8111700" cy="4378500"/>
          </a:xfrm>
          <a:prstGeom prst="rect">
            <a:avLst/>
          </a:prstGeom>
          <a:noFill/>
          <a:ln>
            <a:noFill/>
          </a:ln>
        </p:spPr>
        <p:txBody>
          <a:bodyPr anchorCtr="0" anchor="t" bIns="34275" lIns="68575" spcFirstLastPara="1" rIns="68575" wrap="square" tIns="34275">
            <a:normAutofit/>
          </a:bodyPr>
          <a:lstStyle/>
          <a:p>
            <a:pPr indent="-38100" lvl="0" marL="177800" rtl="0" algn="l">
              <a:lnSpc>
                <a:spcPct val="90000"/>
              </a:lnSpc>
              <a:spcBef>
                <a:spcPts val="0"/>
              </a:spcBef>
              <a:spcAft>
                <a:spcPts val="0"/>
              </a:spcAft>
              <a:buClr>
                <a:schemeClr val="dk1"/>
              </a:buClr>
              <a:buSzPts val="2100"/>
              <a:buNone/>
            </a:pPr>
            <a:r>
              <a:t/>
            </a:r>
            <a:endParaRPr/>
          </a:p>
        </p:txBody>
      </p:sp>
      <p:pic>
        <p:nvPicPr>
          <p:cNvPr id="245" name="Google Shape;245;p42"/>
          <p:cNvPicPr preferRelativeResize="0"/>
          <p:nvPr/>
        </p:nvPicPr>
        <p:blipFill>
          <a:blip r:embed="rId4">
            <a:alphaModFix/>
          </a:blip>
          <a:stretch>
            <a:fillRect/>
          </a:stretch>
        </p:blipFill>
        <p:spPr>
          <a:xfrm>
            <a:off x="278100" y="205508"/>
            <a:ext cx="8614502" cy="389659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9" name="Shape 249"/>
        <p:cNvGrpSpPr/>
        <p:nvPr/>
      </p:nvGrpSpPr>
      <p:grpSpPr>
        <a:xfrm>
          <a:off x="0" y="0"/>
          <a:ext cx="0" cy="0"/>
          <a:chOff x="0" y="0"/>
          <a:chExt cx="0" cy="0"/>
        </a:xfrm>
      </p:grpSpPr>
      <p:sp>
        <p:nvSpPr>
          <p:cNvPr id="250" name="Google Shape;250;p4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Results &amp; Analysis</a:t>
            </a:r>
            <a:endParaRPr/>
          </a:p>
        </p:txBody>
      </p:sp>
      <p:sp>
        <p:nvSpPr>
          <p:cNvPr id="251" name="Google Shape;251;p43"/>
          <p:cNvSpPr txBox="1"/>
          <p:nvPr>
            <p:ph idx="1" type="body"/>
          </p:nvPr>
        </p:nvSpPr>
        <p:spPr>
          <a:xfrm>
            <a:off x="405900" y="254019"/>
            <a:ext cx="7886700" cy="3263400"/>
          </a:xfrm>
          <a:prstGeom prst="rect">
            <a:avLst/>
          </a:prstGeom>
          <a:noFill/>
          <a:ln>
            <a:noFill/>
          </a:ln>
        </p:spPr>
        <p:txBody>
          <a:bodyPr anchorCtr="0" anchor="t" bIns="34275" lIns="68575" spcFirstLastPara="1" rIns="68575" wrap="square" tIns="34275">
            <a:normAutofit/>
          </a:bodyPr>
          <a:lstStyle/>
          <a:p>
            <a:pPr indent="-38100" lvl="0" marL="177800" rtl="0" algn="l">
              <a:lnSpc>
                <a:spcPct val="90000"/>
              </a:lnSpc>
              <a:spcBef>
                <a:spcPts val="0"/>
              </a:spcBef>
              <a:spcAft>
                <a:spcPts val="0"/>
              </a:spcAft>
              <a:buClr>
                <a:schemeClr val="dk1"/>
              </a:buClr>
              <a:buSzPts val="2100"/>
              <a:buNone/>
            </a:pPr>
            <a:r>
              <a:t/>
            </a:r>
            <a:endParaRPr/>
          </a:p>
        </p:txBody>
      </p:sp>
      <p:pic>
        <p:nvPicPr>
          <p:cNvPr id="252" name="Google Shape;252;p43"/>
          <p:cNvPicPr preferRelativeResize="0"/>
          <p:nvPr/>
        </p:nvPicPr>
        <p:blipFill>
          <a:blip r:embed="rId4">
            <a:alphaModFix/>
          </a:blip>
          <a:stretch>
            <a:fillRect/>
          </a:stretch>
        </p:blipFill>
        <p:spPr>
          <a:xfrm>
            <a:off x="258663" y="254025"/>
            <a:ext cx="8626673" cy="38463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6" name="Shape 256"/>
        <p:cNvGrpSpPr/>
        <p:nvPr/>
      </p:nvGrpSpPr>
      <p:grpSpPr>
        <a:xfrm>
          <a:off x="0" y="0"/>
          <a:ext cx="0" cy="0"/>
          <a:chOff x="0" y="0"/>
          <a:chExt cx="0" cy="0"/>
        </a:xfrm>
      </p:grpSpPr>
      <p:sp>
        <p:nvSpPr>
          <p:cNvPr id="257" name="Google Shape;257;p4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Results &amp; Analysis</a:t>
            </a:r>
            <a:endParaRPr/>
          </a:p>
        </p:txBody>
      </p:sp>
      <p:sp>
        <p:nvSpPr>
          <p:cNvPr id="258" name="Google Shape;258;p44"/>
          <p:cNvSpPr txBox="1"/>
          <p:nvPr>
            <p:ph idx="1" type="body"/>
          </p:nvPr>
        </p:nvSpPr>
        <p:spPr>
          <a:xfrm>
            <a:off x="405900" y="254019"/>
            <a:ext cx="7886700" cy="3263400"/>
          </a:xfrm>
          <a:prstGeom prst="rect">
            <a:avLst/>
          </a:prstGeom>
          <a:noFill/>
          <a:ln>
            <a:noFill/>
          </a:ln>
        </p:spPr>
        <p:txBody>
          <a:bodyPr anchorCtr="0" anchor="t" bIns="34275" lIns="68575" spcFirstLastPara="1" rIns="68575" wrap="square" tIns="34275">
            <a:normAutofit/>
          </a:bodyPr>
          <a:lstStyle/>
          <a:p>
            <a:pPr indent="-38100" lvl="0" marL="177800" rtl="0" algn="l">
              <a:lnSpc>
                <a:spcPct val="90000"/>
              </a:lnSpc>
              <a:spcBef>
                <a:spcPts val="0"/>
              </a:spcBef>
              <a:spcAft>
                <a:spcPts val="0"/>
              </a:spcAft>
              <a:buClr>
                <a:schemeClr val="dk1"/>
              </a:buClr>
              <a:buSzPts val="2100"/>
              <a:buNone/>
            </a:pPr>
            <a:r>
              <a:t/>
            </a:r>
            <a:endParaRPr/>
          </a:p>
        </p:txBody>
      </p:sp>
      <p:pic>
        <p:nvPicPr>
          <p:cNvPr id="259" name="Google Shape;259;p44"/>
          <p:cNvPicPr preferRelativeResize="0"/>
          <p:nvPr/>
        </p:nvPicPr>
        <p:blipFill>
          <a:blip r:embed="rId4">
            <a:alphaModFix/>
          </a:blip>
          <a:stretch>
            <a:fillRect/>
          </a:stretch>
        </p:blipFill>
        <p:spPr>
          <a:xfrm>
            <a:off x="249250" y="159251"/>
            <a:ext cx="4839525" cy="2335174"/>
          </a:xfrm>
          <a:prstGeom prst="rect">
            <a:avLst/>
          </a:prstGeom>
          <a:noFill/>
          <a:ln>
            <a:noFill/>
          </a:ln>
        </p:spPr>
      </p:pic>
      <p:pic>
        <p:nvPicPr>
          <p:cNvPr id="260" name="Google Shape;260;p44"/>
          <p:cNvPicPr preferRelativeResize="0"/>
          <p:nvPr/>
        </p:nvPicPr>
        <p:blipFill>
          <a:blip r:embed="rId5">
            <a:alphaModFix/>
          </a:blip>
          <a:stretch>
            <a:fillRect/>
          </a:stretch>
        </p:blipFill>
        <p:spPr>
          <a:xfrm>
            <a:off x="3527325" y="2647600"/>
            <a:ext cx="5560774" cy="22434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4" name="Shape 264"/>
        <p:cNvGrpSpPr/>
        <p:nvPr/>
      </p:nvGrpSpPr>
      <p:grpSpPr>
        <a:xfrm>
          <a:off x="0" y="0"/>
          <a:ext cx="0" cy="0"/>
          <a:chOff x="0" y="0"/>
          <a:chExt cx="0" cy="0"/>
        </a:xfrm>
      </p:grpSpPr>
      <p:sp>
        <p:nvSpPr>
          <p:cNvPr id="265" name="Google Shape;265;p4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Results &amp; Analysis</a:t>
            </a:r>
            <a:endParaRPr/>
          </a:p>
        </p:txBody>
      </p:sp>
      <p:sp>
        <p:nvSpPr>
          <p:cNvPr id="266" name="Google Shape;266;p45"/>
          <p:cNvSpPr txBox="1"/>
          <p:nvPr>
            <p:ph idx="1" type="body"/>
          </p:nvPr>
        </p:nvSpPr>
        <p:spPr>
          <a:xfrm>
            <a:off x="405900" y="254019"/>
            <a:ext cx="7886700" cy="3263400"/>
          </a:xfrm>
          <a:prstGeom prst="rect">
            <a:avLst/>
          </a:prstGeom>
          <a:noFill/>
          <a:ln>
            <a:noFill/>
          </a:ln>
        </p:spPr>
        <p:txBody>
          <a:bodyPr anchorCtr="0" anchor="t" bIns="34275" lIns="68575" spcFirstLastPara="1" rIns="68575" wrap="square" tIns="34275">
            <a:normAutofit/>
          </a:bodyPr>
          <a:lstStyle/>
          <a:p>
            <a:pPr indent="-38100" lvl="0" marL="177800" rtl="0" algn="l">
              <a:lnSpc>
                <a:spcPct val="90000"/>
              </a:lnSpc>
              <a:spcBef>
                <a:spcPts val="0"/>
              </a:spcBef>
              <a:spcAft>
                <a:spcPts val="0"/>
              </a:spcAft>
              <a:buClr>
                <a:schemeClr val="dk1"/>
              </a:buClr>
              <a:buSzPts val="2100"/>
              <a:buNone/>
            </a:pPr>
            <a:r>
              <a:t/>
            </a:r>
            <a:endParaRPr/>
          </a:p>
        </p:txBody>
      </p:sp>
      <p:pic>
        <p:nvPicPr>
          <p:cNvPr id="267" name="Google Shape;267;p45"/>
          <p:cNvPicPr preferRelativeResize="0"/>
          <p:nvPr/>
        </p:nvPicPr>
        <p:blipFill>
          <a:blip r:embed="rId4">
            <a:alphaModFix/>
          </a:blip>
          <a:stretch>
            <a:fillRect/>
          </a:stretch>
        </p:blipFill>
        <p:spPr>
          <a:xfrm>
            <a:off x="321625" y="273851"/>
            <a:ext cx="8193724" cy="42908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1" name="Shape 271"/>
        <p:cNvGrpSpPr/>
        <p:nvPr/>
      </p:nvGrpSpPr>
      <p:grpSpPr>
        <a:xfrm>
          <a:off x="0" y="0"/>
          <a:ext cx="0" cy="0"/>
          <a:chOff x="0" y="0"/>
          <a:chExt cx="0" cy="0"/>
        </a:xfrm>
      </p:grpSpPr>
      <p:sp>
        <p:nvSpPr>
          <p:cNvPr id="272" name="Google Shape;272;p46"/>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Future Enhancements</a:t>
            </a:r>
            <a:endParaRPr/>
          </a:p>
        </p:txBody>
      </p:sp>
      <p:sp>
        <p:nvSpPr>
          <p:cNvPr id="273" name="Google Shape;273;p46"/>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0" lvl="0" marL="0" rtl="0" algn="just">
              <a:lnSpc>
                <a:spcPct val="90000"/>
              </a:lnSpc>
              <a:spcBef>
                <a:spcPts val="0"/>
              </a:spcBef>
              <a:spcAft>
                <a:spcPts val="0"/>
              </a:spcAft>
              <a:buClr>
                <a:schemeClr val="dk1"/>
              </a:buClr>
              <a:buSzPts val="2100"/>
              <a:buNone/>
            </a:pPr>
            <a:r>
              <a:rPr lang="en">
                <a:latin typeface="Times New Roman"/>
                <a:ea typeface="Times New Roman"/>
                <a:cs typeface="Times New Roman"/>
                <a:sym typeface="Times New Roman"/>
              </a:rPr>
              <a:t>The system helps in reducing electricity bills, improving energy efficiency, minimizing peak load, and providing a user-friendly energy management platform. However, the system depends heavily on data quality, does not include real-time IoT integration, and requires high computational resources for deep learning models. In the future, the system can be enhanced by integrating IoT smart meters, enabling real-time prediction, supporting renewable energy sources, developing mobile applications, and extending it to smart grid environments.</a:t>
            </a:r>
            <a:endParaRPr>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7" name="Shape 277"/>
        <p:cNvGrpSpPr/>
        <p:nvPr/>
      </p:nvGrpSpPr>
      <p:grpSpPr>
        <a:xfrm>
          <a:off x="0" y="0"/>
          <a:ext cx="0" cy="0"/>
          <a:chOff x="0" y="0"/>
          <a:chExt cx="0" cy="0"/>
        </a:xfrm>
      </p:grpSpPr>
      <p:sp>
        <p:nvSpPr>
          <p:cNvPr id="278" name="Google Shape;278;p4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Conclusion</a:t>
            </a:r>
            <a:endParaRPr/>
          </a:p>
        </p:txBody>
      </p:sp>
      <p:sp>
        <p:nvSpPr>
          <p:cNvPr id="279" name="Google Shape;279;p47"/>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0" lvl="0" marL="0" rtl="0" algn="just">
              <a:lnSpc>
                <a:spcPct val="90000"/>
              </a:lnSpc>
              <a:spcBef>
                <a:spcPts val="0"/>
              </a:spcBef>
              <a:spcAft>
                <a:spcPts val="0"/>
              </a:spcAft>
              <a:buClr>
                <a:schemeClr val="dk1"/>
              </a:buClr>
              <a:buSzPts val="2100"/>
              <a:buNone/>
            </a:pPr>
            <a:r>
              <a:rPr lang="en">
                <a:latin typeface="Times New Roman"/>
                <a:ea typeface="Times New Roman"/>
                <a:cs typeface="Times New Roman"/>
                <a:sym typeface="Times New Roman"/>
              </a:rPr>
              <a:t>This project successfully demonstrates a smart energy consumption prediction and optimization system using machine learning and deep learning techniques. It achieves accurate prediction results, improves energy efficiency, and reduces electricity costs. The system proves to be practically useful and scalable for future smart energy management applications.</a:t>
            </a:r>
            <a:endParaRPr>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3" name="Shape 283"/>
        <p:cNvGrpSpPr/>
        <p:nvPr/>
      </p:nvGrpSpPr>
      <p:grpSpPr>
        <a:xfrm>
          <a:off x="0" y="0"/>
          <a:ext cx="0" cy="0"/>
          <a:chOff x="0" y="0"/>
          <a:chExt cx="0" cy="0"/>
        </a:xfrm>
      </p:grpSpPr>
      <p:sp>
        <p:nvSpPr>
          <p:cNvPr id="284" name="Google Shape;284;p48"/>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Times New Roman"/>
              <a:buNone/>
            </a:pPr>
            <a:r>
              <a:rPr b="1" lang="en">
                <a:latin typeface="Times New Roman"/>
                <a:ea typeface="Times New Roman"/>
                <a:cs typeface="Times New Roman"/>
                <a:sym typeface="Times New Roman"/>
              </a:rPr>
              <a:t>References</a:t>
            </a:r>
            <a:endParaRPr/>
          </a:p>
        </p:txBody>
      </p:sp>
      <p:sp>
        <p:nvSpPr>
          <p:cNvPr id="285" name="Google Shape;285;p48"/>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p>
            <a:pPr indent="-38100" lvl="0" marL="177800" rtl="0" algn="l">
              <a:lnSpc>
                <a:spcPct val="90000"/>
              </a:lnSpc>
              <a:spcBef>
                <a:spcPts val="0"/>
              </a:spcBef>
              <a:spcAft>
                <a:spcPts val="0"/>
              </a:spcAft>
              <a:buClr>
                <a:schemeClr val="dk1"/>
              </a:buClr>
              <a:buSzPts val="2100"/>
              <a:buNone/>
            </a:pPr>
            <a:r>
              <a:rPr lang="en"/>
              <a:t>[1] </a:t>
            </a:r>
            <a:r>
              <a:rPr lang="en"/>
              <a:t>Kaggle, “Household Electric Power Consumption Dataset”</a:t>
            </a:r>
            <a:endParaRPr/>
          </a:p>
          <a:p>
            <a:pPr indent="-38100" lvl="0" marL="177800" rtl="0" algn="l">
              <a:spcBef>
                <a:spcPts val="0"/>
              </a:spcBef>
              <a:spcAft>
                <a:spcPts val="0"/>
              </a:spcAft>
              <a:buClr>
                <a:schemeClr val="dk1"/>
              </a:buClr>
              <a:buSzPts val="1100"/>
              <a:buNone/>
            </a:pPr>
            <a:r>
              <a:rPr lang="en"/>
              <a:t>[2] Scikit-learn Documentation, Machine Learning in Python.</a:t>
            </a:r>
            <a:endParaRPr/>
          </a:p>
          <a:p>
            <a:pPr indent="-38100" lvl="0" marL="177800" rtl="0" algn="l">
              <a:spcBef>
                <a:spcPts val="0"/>
              </a:spcBef>
              <a:spcAft>
                <a:spcPts val="0"/>
              </a:spcAft>
              <a:buClr>
                <a:schemeClr val="dk1"/>
              </a:buClr>
              <a:buSzPts val="1100"/>
              <a:buNone/>
            </a:pPr>
            <a:r>
              <a:rPr lang="en"/>
              <a:t>[3] TensorFlow Documentation, Deep Learning Framework for Predictive Modeling.</a:t>
            </a:r>
            <a:br>
              <a:rPr lang="en"/>
            </a:br>
            <a:r>
              <a:rPr lang="en"/>
              <a:t>[4] PyTorch Documentation, Deep Learning Framework for Energy Forecasting Models.</a:t>
            </a:r>
            <a:endParaRPr/>
          </a:p>
          <a:p>
            <a:pPr indent="-38100" lvl="0" marL="177800" rtl="0" algn="l">
              <a:spcBef>
                <a:spcPts val="0"/>
              </a:spcBef>
              <a:spcAft>
                <a:spcPts val="0"/>
              </a:spcAft>
              <a:buClr>
                <a:schemeClr val="dk1"/>
              </a:buClr>
              <a:buSzPts val="1100"/>
              <a:buFont typeface="Arial"/>
              <a:buNone/>
            </a:pPr>
            <a:r>
              <a:t/>
            </a:r>
            <a:endParaRPr/>
          </a:p>
          <a:p>
            <a:pPr indent="-38100" lvl="0" marL="177800" rtl="0" algn="l">
              <a:lnSpc>
                <a:spcPct val="90000"/>
              </a:lnSpc>
              <a:spcBef>
                <a:spcPts val="0"/>
              </a:spcBef>
              <a:spcAft>
                <a:spcPts val="0"/>
              </a:spcAft>
              <a:buClr>
                <a:schemeClr val="dk1"/>
              </a:buClr>
              <a:buSzPts val="21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9" name="Shape 289"/>
        <p:cNvGrpSpPr/>
        <p:nvPr/>
      </p:nvGrpSpPr>
      <p:grpSpPr>
        <a:xfrm>
          <a:off x="0" y="0"/>
          <a:ext cx="0" cy="0"/>
          <a:chOff x="0" y="0"/>
          <a:chExt cx="0" cy="0"/>
        </a:xfrm>
      </p:grpSpPr>
      <p:sp>
        <p:nvSpPr>
          <p:cNvPr id="290" name="Google Shape;290;p49"/>
          <p:cNvSpPr txBox="1"/>
          <p:nvPr/>
        </p:nvSpPr>
        <p:spPr>
          <a:xfrm>
            <a:off x="2467000" y="2203000"/>
            <a:ext cx="41436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0">
                <a:solidFill>
                  <a:schemeClr val="dk1"/>
                </a:solidFill>
                <a:latin typeface="Lobster"/>
                <a:ea typeface="Lobster"/>
                <a:cs typeface="Lobster"/>
                <a:sym typeface="Lobster"/>
              </a:rPr>
              <a:t>Thank You</a:t>
            </a:r>
            <a:endParaRPr sz="6000">
              <a:solidFill>
                <a:schemeClr val="dk1"/>
              </a:solidFill>
              <a:latin typeface="Lobster"/>
              <a:ea typeface="Lobster"/>
              <a:cs typeface="Lobster"/>
              <a:sym typeface="Lobst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